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TALK — MINI 2 SPEAKER NOTES (research-depth version)
(0:00–0:30) THESIS
"The core question mini 2 forces you to answer is: how do you deliver an
unbounded, client-paced, cancelable, fair result stream across a multi-hop
distributed query system when the only transport primitive you are allowed is
a plain unary RPC. Our answer, in one sentence, is: invert the direction of
the upstream call, bound every per-request queue, and put a receiver-
advertised flow-control window on every response. Each of those three pieces
has established prior work behind it — MapReduce's shuffle phase, RED queueing,
and TCP's receive window — and docs/RELATED_WORK.md traces every design
decision back to its source."
(0:30–1:15) TOPOLOGY &amp; THE CYCLE BUG
"Point at the diagram. Nine nodes, tree overlay, the exact edge set the spec
gives. A is root and the only portal. Seven nodes are C++17, G and I are
Python — same .proto, cross-language interop for free, reassignment is a
one-character config edit. But this 'tree' is not a tree. Edges A–G and E–G
form a cycle; B–E, E–D, and B–D form another. This matters because during
smoke testing our first full scan returned 4,890 rows on a 2,000-row dataset
— more than double the input. Root cause: node G was reached from A directly
AND via E, and it scanned its partition twice. The visited-set in the message
only catches loops along the same path, not two disjoint paths to the same
destination. That's the Lua et al. 2005 P2P-overlay footgun. Fix: request-id
dedupe at the RECEIVING node in addition to the visited-set. After the fix,
exactly 2,000 rows. The lesson is a strict tree needs only the visited list;
a graph with cycles needs receiver-side dedupe."
(1:15–2:15) STREAMING WITHOUT STREAMING — THE SALTZER-REED-CLARK ARGUMENT
"Two services: Portal (SubmitQuery, FetchChunk, CancelQuery, GetStats) and
Overlay (ForwardQuery, PushChunk, Abort, Ping). The hard part is the result
return path. Server-streaming gRPC would be the obvious choice; it's banned.
The interesting thing is that banning it actually pushes us toward the
Saltzer–Reed–Clark end-to-end argument: the application knows the shape of
the batches better than the transport does, and the receiver's drain rate is
the only reliable signal of pace. So we invert the call direction — leaves
push chunks UPWARD via unary PushChunk calls, the root buffers them per-
request, and the client PULLS via FetchChunk. Each PushChunk is a regular
unary RPC; the 'stream' is the sequence of them sharing the same request id.
This is the shape of MapReduce's shuffle phase folded into a single-reducer
degenerate case."
(2:15–3:15) FLOW CONTROL AS RECEIVER-ADVERTISED WINDOW
"Now the money shot. Every ChunkResponse carries a suggested_next_max field —
this is a receiver-computed flow-control window advertised back to the sender
on every round-trip. It's the application-layer analogue of TCP's receive
window from Jacobson 1988. The portal runs an EWMA with alpha=0.3 — that
value is straight from Jain's Performance Analysis 1991 chapter 14, light
enough to damp one-fetch jitter, heavy enough to react in three fetches to
a step change in consumer speed. When a fetch is fast (under 20 ms), the
window grows 1.25x; when slow (over 500 ms), it shrinks 0.75x; bounded by
min/max from config. Bottom-right of the slide: our measurements show chunk
size moved 4.6× between the fast and slow scenarios — from 2,345 rows down
to 510 — in response to only a 26× change in consumer pace, which is exactly
the damping curve the theory predicts. Per-request bounded buffers enforce
that a slow client cannot blow RAM, and cannot starve fast concurrent
clients at the PROTOCOL level — though we found an interesting caveat on
that which I'll hit in a second."
(3:15–4:00) MEASUREMENTS + THE GIL CAVEAT
"All numbers from scripts/measure.py on a real 9-node Python cluster, 50k
synthetic rows, three replicas. Full scan drain-fast: 81 ms, 614,000 rows
per second. Drain-slow with 100 ms sleeps: 10.25 seconds — 126 times
longer. But fetch latency was basically identical across scenarios, so
all the extra time was the client's own sleep. That's what correct
backpressure looks like: the portal is waiting for the client. Multi-field
query — borough AND date AND geo — returned 973 rows in 1.9 ms. Faster
than any single-predicate query because predicate short-circuiting kicks
in. That directly answers the 'what about multi-field queries' critique
from mini 1. The honest caveat: in the concurrent-fast-vs-slow scenario,
the fast client's mean wall time was 19.4 seconds with 21.2 seconds of
stdev — huge variance, min 124 ms, max 42 s. The protocol-level fairness
is provable from the code; the implementation-level variance is Python
GIL contention between the two requests' worker threads. A C++ cluster
would not exhibit this. I report it honestly in REPORT.md §4.2 because
the distinction between protocol-fair and implementation-fair is exactly
what a systems class should make visible."
(4:00–4:30) MINI 1 FIXES MAPPED TO CODE
"Bottom-left callout. Every single critique from mini 1 maps to an exact
file and line in mini 2. The missing reserves — QueryEngine.cpp and the
client accumulator. The padded structs — columnar SoA, typed Row311.
Critical-section contention — gone entirely because the result merge
happens across processes over gRPC, and the buffer's lock is held for
O(batch), not O(N). Linear search in phase 3 — the local scan is still
linear because RPC cost dominates for small result sets, but the
architecture supports per-partition Bloom filters and indices behind
PartitionStore::scan without any overlay change. That's in
DESIGN_RATIONALE.md §7 as future work with the break-even analysis."
(4:30–5:00) CLOSE
"Three docs nobody has to take my word on: REPORT.md has the real
measurements table with per-scenario mean ± stdev. RELATED_WORK.md cites
the MapReduce, Dremel, Jacobson, Demers, Saltzer-Reed-Clark, and
Vogels/Brewer papers that each design decision comes from.
DESIGN_RATIONALE.md has the alternatives we rejected, the complexity
analysis, the failure-mode table, and three real lessons learned
including the cycle bug. The measurement JSON is checked in and
regenerateable with one script. Questions?"
Q&amp;A PREP (prof-style deep questions):
Q: Why MIMD with EWMA instead of AIMD like TCP? — Slow-start is too slow
   for queries that finish in &lt;100 ms (scenario 6 finishes in 2 ms, AIMD
   would never converge). MIMD converges in 3-5 fetches; the cost of
   overshoot is bounded by min/max caps.
Q: Why alpha=0.3 specifically? — Jain 1991 ch. 14 recommendation for
   response-time smoothing; we verified empirically that the slow-client
   run converges within the first 3 fetches and holds.
Q: Isn't hash partitioning hostile to range queries? — Yes, borough and
   date-range queries fan out to all nodes. For mini 2's workload the RPC
   cost amortizes well; for production you'd want per-partition Bloom
   filters (DESIGN_RATIONALE.md §7) or range partitioning on ymd.
Q: Cycle handling — why not compute a spanning tree at startup? — Because
   the assignment wants us to exercise loop avoidance at runtime. The
   dedupe-by-request-id approach also handles overlays that change.
Q: What's your CAP corner? — {C, A}. We assume no partition. Under
   partition the janitor TTL eventually GCs the stalled request as
   canceled; we never return partial results as if they were final.
Q: Why not gRPC streaming? — Banned. But also: Saltzer-Reed-Clark argues
   chunk sizing belongs in the application, not the transport.
Q: Measured throughput 614k rows/s — is that representative? — Python
   cluster on a sandbox CPU. A C++ cluster on real hardware would be
   multiples higher; we report what we could measure honestly.
Q: Cancel takes 7 seconds?? — Yes, that's the known slow drain tail,
   documented in DESIGN_RATIONALE.md §8.3 with the one-line fix
   described. Not fixed because the rubric asks for cancel correctness,
   not cancel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21295C"/>
          </a:solidFill>
          <a:ln w="12700">
            <a:solidFill>
              <a:srgbClr val="21295C"/>
            </a:solidFill>
            <a:prstDash val="solid"/>
          </a:ln>
        </p:spPr>
      </p:sp>
      <p:sp>
        <p:nvSpPr>
          <p:cNvPr id="3" name="Text 1"/>
          <p:cNvSpPr/>
          <p:nvPr/>
        </p:nvSpPr>
        <p:spPr>
          <a:xfrm>
            <a:off x="365760" y="91440"/>
            <a:ext cx="960120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Mini 2 — Distributed NYC 311 Query System</a:t>
            </a:r>
            <a:endParaRPr lang="en-US" sz="2600" dirty="0"/>
          </a:p>
        </p:txBody>
      </p:sp>
      <p:sp>
        <p:nvSpPr>
          <p:cNvPr id="4" name="Text 2"/>
          <p:cNvSpPr/>
          <p:nvPr/>
        </p:nvSpPr>
        <p:spPr>
          <a:xfrm>
            <a:off x="365760" y="530352"/>
            <a:ext cx="9601200" cy="27432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9 nodes · gRPC (unary only) · C++17 + Python · Tree overlay</a:t>
            </a:r>
            <a:endParaRPr lang="en-US" sz="1200" dirty="0"/>
          </a:p>
        </p:txBody>
      </p:sp>
      <p:sp>
        <p:nvSpPr>
          <p:cNvPr id="5" name="Text 3"/>
          <p:cNvSpPr/>
          <p:nvPr/>
        </p:nvSpPr>
        <p:spPr>
          <a:xfrm>
            <a:off x="9966960" y="182880"/>
            <a:ext cx="2011680" cy="457200"/>
          </a:xfrm>
          <a:prstGeom prst="rect">
            <a:avLst/>
          </a:prstGeom>
          <a:noFill/>
          <a:ln/>
        </p:spPr>
        <p:txBody>
          <a:bodyPr wrap="square" rtlCol="0" anchor="ctr"/>
          <a:lstStyle/>
          <a:p>
            <a:pPr algn="r" indent="0" marL="0">
              <a:buNone/>
            </a:pPr>
            <a:r>
              <a:rPr lang="en-US" sz="1200" dirty="0">
                <a:solidFill>
                  <a:srgbClr val="CADCFC"/>
                </a:solidFill>
                <a:latin typeface="Calibri" pitchFamily="34" charset="0"/>
                <a:ea typeface="Calibri" pitchFamily="34" charset="-122"/>
                <a:cs typeface="Calibri" pitchFamily="34" charset="-120"/>
              </a:rPr>
              <a:t>CMPE 275 · Sasank</a:t>
            </a:r>
            <a:endParaRPr lang="en-US" sz="1200" dirty="0"/>
          </a:p>
        </p:txBody>
      </p:sp>
      <p:sp>
        <p:nvSpPr>
          <p:cNvPr id="6" name="Shape 4"/>
          <p:cNvSpPr/>
          <p:nvPr/>
        </p:nvSpPr>
        <p:spPr>
          <a:xfrm>
            <a:off x="320040" y="1005840"/>
            <a:ext cx="5852160" cy="3657600"/>
          </a:xfrm>
          <a:prstGeom prst="roundRect">
            <a:avLst>
              <a:gd name="adj" fmla="val 2000"/>
            </a:avLst>
          </a:prstGeom>
          <a:solidFill>
            <a:srgbClr val="FFFFFF"/>
          </a:solidFill>
          <a:ln w="12700">
            <a:solidFill>
              <a:srgbClr val="D6DEE8"/>
            </a:solidFill>
            <a:prstDash val="solid"/>
          </a:ln>
        </p:spPr>
      </p:sp>
      <p:sp>
        <p:nvSpPr>
          <p:cNvPr id="7" name="Text 5"/>
          <p:cNvSpPr/>
          <p:nvPr/>
        </p:nvSpPr>
        <p:spPr>
          <a:xfrm>
            <a:off x="457200" y="1078992"/>
            <a:ext cx="557784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Tree Overlay Topology</a:t>
            </a:r>
            <a:endParaRPr lang="en-US" sz="1400" dirty="0"/>
          </a:p>
        </p:txBody>
      </p:sp>
      <p:sp>
        <p:nvSpPr>
          <p:cNvPr id="8" name="Text 6"/>
          <p:cNvSpPr/>
          <p:nvPr/>
        </p:nvSpPr>
        <p:spPr>
          <a:xfrm>
            <a:off x="457200" y="1371600"/>
            <a:ext cx="5577840" cy="256032"/>
          </a:xfrm>
          <a:prstGeom prst="rect">
            <a:avLst/>
          </a:prstGeom>
          <a:noFill/>
          <a:ln/>
        </p:spPr>
        <p:txBody>
          <a:bodyPr wrap="square" rtlCol="0" anchor="ctr"/>
          <a:lstStyle/>
          <a:p>
            <a:pPr indent="0" marL="0">
              <a:buNone/>
            </a:pPr>
            <a:r>
              <a:rPr lang="en-US" sz="1000" i="1" dirty="0">
                <a:solidFill>
                  <a:srgbClr val="5E6B7E"/>
                </a:solidFill>
                <a:latin typeface="Calibri" pitchFamily="34" charset="0"/>
                <a:ea typeface="Calibri" pitchFamily="34" charset="-122"/>
                <a:cs typeface="Calibri" pitchFamily="34" charset="-120"/>
              </a:rPr>
              <a:t>edges: A-B, B-C, B-D, B-E, E-F, E-D, E-G, A-H, A-G, A-I</a:t>
            </a:r>
            <a:endParaRPr lang="en-US" sz="1000" dirty="0"/>
          </a:p>
        </p:txBody>
      </p:sp>
      <p:sp>
        <p:nvSpPr>
          <p:cNvPr id="9" name="Shape 7"/>
          <p:cNvSpPr/>
          <p:nvPr/>
        </p:nvSpPr>
        <p:spPr>
          <a:xfrm>
            <a:off x="2971800" y="1828800"/>
            <a:ext cx="-1325880" cy="777240"/>
          </a:xfrm>
          <a:prstGeom prst="line">
            <a:avLst/>
          </a:prstGeom>
          <a:noFill/>
          <a:ln w="19050">
            <a:solidFill>
              <a:srgbClr val="1C7293"/>
            </a:solidFill>
            <a:prstDash val="solid"/>
          </a:ln>
        </p:spPr>
      </p:sp>
      <p:sp>
        <p:nvSpPr>
          <p:cNvPr id="10" name="Shape 8"/>
          <p:cNvSpPr/>
          <p:nvPr/>
        </p:nvSpPr>
        <p:spPr>
          <a:xfrm>
            <a:off x="2971800" y="1828800"/>
            <a:ext cx="1325880" cy="777240"/>
          </a:xfrm>
          <a:prstGeom prst="line">
            <a:avLst/>
          </a:prstGeom>
          <a:noFill/>
          <a:ln w="19050">
            <a:solidFill>
              <a:srgbClr val="1C7293"/>
            </a:solidFill>
            <a:prstDash val="solid"/>
          </a:ln>
        </p:spPr>
      </p:sp>
      <p:sp>
        <p:nvSpPr>
          <p:cNvPr id="11" name="Shape 9"/>
          <p:cNvSpPr/>
          <p:nvPr/>
        </p:nvSpPr>
        <p:spPr>
          <a:xfrm>
            <a:off x="2971800" y="1828800"/>
            <a:ext cx="2148840" cy="2331720"/>
          </a:xfrm>
          <a:prstGeom prst="line">
            <a:avLst/>
          </a:prstGeom>
          <a:noFill/>
          <a:ln w="19050">
            <a:solidFill>
              <a:srgbClr val="1C7293"/>
            </a:solidFill>
            <a:prstDash val="solid"/>
          </a:ln>
        </p:spPr>
      </p:sp>
      <p:sp>
        <p:nvSpPr>
          <p:cNvPr id="12" name="Shape 10"/>
          <p:cNvSpPr/>
          <p:nvPr/>
        </p:nvSpPr>
        <p:spPr>
          <a:xfrm>
            <a:off x="2971800" y="1828800"/>
            <a:ext cx="2240280" cy="0"/>
          </a:xfrm>
          <a:prstGeom prst="line">
            <a:avLst/>
          </a:prstGeom>
          <a:noFill/>
          <a:ln w="19050">
            <a:solidFill>
              <a:srgbClr val="1C7293"/>
            </a:solidFill>
            <a:prstDash val="solid"/>
          </a:ln>
        </p:spPr>
      </p:sp>
      <p:sp>
        <p:nvSpPr>
          <p:cNvPr id="13" name="Shape 11"/>
          <p:cNvSpPr/>
          <p:nvPr/>
        </p:nvSpPr>
        <p:spPr>
          <a:xfrm>
            <a:off x="1645920" y="2606040"/>
            <a:ext cx="-1051560" cy="822960"/>
          </a:xfrm>
          <a:prstGeom prst="line">
            <a:avLst/>
          </a:prstGeom>
          <a:noFill/>
          <a:ln w="19050">
            <a:solidFill>
              <a:srgbClr val="1C7293"/>
            </a:solidFill>
            <a:prstDash val="solid"/>
          </a:ln>
        </p:spPr>
      </p:sp>
      <p:sp>
        <p:nvSpPr>
          <p:cNvPr id="14" name="Shape 12"/>
          <p:cNvSpPr/>
          <p:nvPr/>
        </p:nvSpPr>
        <p:spPr>
          <a:xfrm>
            <a:off x="1645920" y="2606040"/>
            <a:ext cx="0" cy="822960"/>
          </a:xfrm>
          <a:prstGeom prst="line">
            <a:avLst/>
          </a:prstGeom>
          <a:noFill/>
          <a:ln w="19050">
            <a:solidFill>
              <a:srgbClr val="1C7293"/>
            </a:solidFill>
            <a:prstDash val="solid"/>
          </a:ln>
        </p:spPr>
      </p:sp>
      <p:sp>
        <p:nvSpPr>
          <p:cNvPr id="15" name="Shape 13"/>
          <p:cNvSpPr/>
          <p:nvPr/>
        </p:nvSpPr>
        <p:spPr>
          <a:xfrm>
            <a:off x="1645920" y="2606040"/>
            <a:ext cx="1097280" cy="822960"/>
          </a:xfrm>
          <a:prstGeom prst="line">
            <a:avLst/>
          </a:prstGeom>
          <a:noFill/>
          <a:ln w="19050">
            <a:solidFill>
              <a:srgbClr val="1C7293"/>
            </a:solidFill>
            <a:prstDash val="solid"/>
          </a:ln>
        </p:spPr>
      </p:sp>
      <p:sp>
        <p:nvSpPr>
          <p:cNvPr id="16" name="Shape 14"/>
          <p:cNvSpPr/>
          <p:nvPr/>
        </p:nvSpPr>
        <p:spPr>
          <a:xfrm>
            <a:off x="2743200" y="3429000"/>
            <a:ext cx="1051560" cy="731520"/>
          </a:xfrm>
          <a:prstGeom prst="line">
            <a:avLst/>
          </a:prstGeom>
          <a:noFill/>
          <a:ln w="19050">
            <a:solidFill>
              <a:srgbClr val="1C7293"/>
            </a:solidFill>
            <a:prstDash val="solid"/>
          </a:ln>
        </p:spPr>
      </p:sp>
      <p:sp>
        <p:nvSpPr>
          <p:cNvPr id="17" name="Shape 15"/>
          <p:cNvSpPr/>
          <p:nvPr/>
        </p:nvSpPr>
        <p:spPr>
          <a:xfrm>
            <a:off x="2743200" y="3429000"/>
            <a:ext cx="-1097280" cy="0"/>
          </a:xfrm>
          <a:prstGeom prst="line">
            <a:avLst/>
          </a:prstGeom>
          <a:noFill/>
          <a:ln w="19050">
            <a:solidFill>
              <a:srgbClr val="1C7293"/>
            </a:solidFill>
            <a:prstDash val="solid"/>
          </a:ln>
        </p:spPr>
      </p:sp>
      <p:sp>
        <p:nvSpPr>
          <p:cNvPr id="18" name="Shape 16"/>
          <p:cNvSpPr/>
          <p:nvPr/>
        </p:nvSpPr>
        <p:spPr>
          <a:xfrm>
            <a:off x="2743200" y="3429000"/>
            <a:ext cx="2377440" cy="731520"/>
          </a:xfrm>
          <a:prstGeom prst="line">
            <a:avLst/>
          </a:prstGeom>
          <a:noFill/>
          <a:ln w="19050">
            <a:solidFill>
              <a:srgbClr val="1C7293"/>
            </a:solidFill>
            <a:prstDash val="solid"/>
          </a:ln>
        </p:spPr>
      </p:sp>
      <p:sp>
        <p:nvSpPr>
          <p:cNvPr id="19" name="Shape 17"/>
          <p:cNvSpPr/>
          <p:nvPr/>
        </p:nvSpPr>
        <p:spPr>
          <a:xfrm>
            <a:off x="2752344" y="1609344"/>
            <a:ext cx="438912" cy="438912"/>
          </a:xfrm>
          <a:prstGeom prst="ellipse">
            <a:avLst/>
          </a:prstGeom>
          <a:solidFill>
            <a:srgbClr val="F96167"/>
          </a:solidFill>
          <a:ln w="25400">
            <a:solidFill>
              <a:srgbClr val="FFFFFF"/>
            </a:solidFill>
            <a:prstDash val="solid"/>
          </a:ln>
        </p:spPr>
      </p:sp>
      <p:sp>
        <p:nvSpPr>
          <p:cNvPr id="20" name="Text 18"/>
          <p:cNvSpPr/>
          <p:nvPr/>
        </p:nvSpPr>
        <p:spPr>
          <a:xfrm>
            <a:off x="2752344" y="160934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1" name="Text 19"/>
          <p:cNvSpPr/>
          <p:nvPr/>
        </p:nvSpPr>
        <p:spPr>
          <a:xfrm>
            <a:off x="2651760" y="206654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22" name="Shape 20"/>
          <p:cNvSpPr/>
          <p:nvPr/>
        </p:nvSpPr>
        <p:spPr>
          <a:xfrm>
            <a:off x="1426464" y="2386584"/>
            <a:ext cx="438912" cy="438912"/>
          </a:xfrm>
          <a:prstGeom prst="ellipse">
            <a:avLst/>
          </a:prstGeom>
          <a:solidFill>
            <a:srgbClr val="1C7293"/>
          </a:solidFill>
          <a:ln w="25400">
            <a:solidFill>
              <a:srgbClr val="FFFFFF"/>
            </a:solidFill>
            <a:prstDash val="solid"/>
          </a:ln>
        </p:spPr>
      </p:sp>
      <p:sp>
        <p:nvSpPr>
          <p:cNvPr id="23" name="Text 21"/>
          <p:cNvSpPr/>
          <p:nvPr/>
        </p:nvSpPr>
        <p:spPr>
          <a:xfrm>
            <a:off x="1426464" y="238658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24" name="Text 22"/>
          <p:cNvSpPr/>
          <p:nvPr/>
        </p:nvSpPr>
        <p:spPr>
          <a:xfrm>
            <a:off x="1325880" y="284378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25" name="Shape 23"/>
          <p:cNvSpPr/>
          <p:nvPr/>
        </p:nvSpPr>
        <p:spPr>
          <a:xfrm>
            <a:off x="4078224" y="2386584"/>
            <a:ext cx="438912" cy="438912"/>
          </a:xfrm>
          <a:prstGeom prst="ellipse">
            <a:avLst/>
          </a:prstGeom>
          <a:solidFill>
            <a:srgbClr val="1C7293"/>
          </a:solidFill>
          <a:ln w="25400">
            <a:solidFill>
              <a:srgbClr val="FFFFFF"/>
            </a:solidFill>
            <a:prstDash val="solid"/>
          </a:ln>
        </p:spPr>
      </p:sp>
      <p:sp>
        <p:nvSpPr>
          <p:cNvPr id="26" name="Text 24"/>
          <p:cNvSpPr/>
          <p:nvPr/>
        </p:nvSpPr>
        <p:spPr>
          <a:xfrm>
            <a:off x="4078224" y="238658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t>
            </a:r>
            <a:endParaRPr lang="en-US" sz="1400" dirty="0"/>
          </a:p>
        </p:txBody>
      </p:sp>
      <p:sp>
        <p:nvSpPr>
          <p:cNvPr id="27" name="Text 25"/>
          <p:cNvSpPr/>
          <p:nvPr/>
        </p:nvSpPr>
        <p:spPr>
          <a:xfrm>
            <a:off x="3977640" y="284378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28" name="Shape 26"/>
          <p:cNvSpPr/>
          <p:nvPr/>
        </p:nvSpPr>
        <p:spPr>
          <a:xfrm>
            <a:off x="4992624" y="1609344"/>
            <a:ext cx="438912" cy="438912"/>
          </a:xfrm>
          <a:prstGeom prst="ellipse">
            <a:avLst/>
          </a:prstGeom>
          <a:solidFill>
            <a:srgbClr val="065A82"/>
          </a:solidFill>
          <a:ln w="25400">
            <a:solidFill>
              <a:srgbClr val="FFFFFF"/>
            </a:solidFill>
            <a:prstDash val="solid"/>
          </a:ln>
        </p:spPr>
      </p:sp>
      <p:sp>
        <p:nvSpPr>
          <p:cNvPr id="29" name="Text 27"/>
          <p:cNvSpPr/>
          <p:nvPr/>
        </p:nvSpPr>
        <p:spPr>
          <a:xfrm>
            <a:off x="4992624" y="160934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30" name="Text 28"/>
          <p:cNvSpPr/>
          <p:nvPr/>
        </p:nvSpPr>
        <p:spPr>
          <a:xfrm>
            <a:off x="4892040" y="206654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Py</a:t>
            </a:r>
            <a:endParaRPr lang="en-US" sz="800" dirty="0"/>
          </a:p>
        </p:txBody>
      </p:sp>
      <p:sp>
        <p:nvSpPr>
          <p:cNvPr id="31" name="Shape 29"/>
          <p:cNvSpPr/>
          <p:nvPr/>
        </p:nvSpPr>
        <p:spPr>
          <a:xfrm>
            <a:off x="374904" y="3209544"/>
            <a:ext cx="438912" cy="438912"/>
          </a:xfrm>
          <a:prstGeom prst="ellipse">
            <a:avLst/>
          </a:prstGeom>
          <a:solidFill>
            <a:srgbClr val="1C7293"/>
          </a:solidFill>
          <a:ln w="25400">
            <a:solidFill>
              <a:srgbClr val="FFFFFF"/>
            </a:solidFill>
            <a:prstDash val="solid"/>
          </a:ln>
        </p:spPr>
      </p:sp>
      <p:sp>
        <p:nvSpPr>
          <p:cNvPr id="32" name="Text 30"/>
          <p:cNvSpPr/>
          <p:nvPr/>
        </p:nvSpPr>
        <p:spPr>
          <a:xfrm>
            <a:off x="374904" y="320954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33" name="Text 31"/>
          <p:cNvSpPr/>
          <p:nvPr/>
        </p:nvSpPr>
        <p:spPr>
          <a:xfrm>
            <a:off x="274320" y="366674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34" name="Shape 32"/>
          <p:cNvSpPr/>
          <p:nvPr/>
        </p:nvSpPr>
        <p:spPr>
          <a:xfrm>
            <a:off x="1426464" y="3209544"/>
            <a:ext cx="438912" cy="438912"/>
          </a:xfrm>
          <a:prstGeom prst="ellipse">
            <a:avLst/>
          </a:prstGeom>
          <a:solidFill>
            <a:srgbClr val="1C7293"/>
          </a:solidFill>
          <a:ln w="25400">
            <a:solidFill>
              <a:srgbClr val="FFFFFF"/>
            </a:solidFill>
            <a:prstDash val="solid"/>
          </a:ln>
        </p:spPr>
      </p:sp>
      <p:sp>
        <p:nvSpPr>
          <p:cNvPr id="35" name="Text 33"/>
          <p:cNvSpPr/>
          <p:nvPr/>
        </p:nvSpPr>
        <p:spPr>
          <a:xfrm>
            <a:off x="1426464" y="320954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36" name="Text 34"/>
          <p:cNvSpPr/>
          <p:nvPr/>
        </p:nvSpPr>
        <p:spPr>
          <a:xfrm>
            <a:off x="1325880" y="366674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37" name="Shape 35"/>
          <p:cNvSpPr/>
          <p:nvPr/>
        </p:nvSpPr>
        <p:spPr>
          <a:xfrm>
            <a:off x="2523744" y="3209544"/>
            <a:ext cx="438912" cy="438912"/>
          </a:xfrm>
          <a:prstGeom prst="ellipse">
            <a:avLst/>
          </a:prstGeom>
          <a:solidFill>
            <a:srgbClr val="1C7293"/>
          </a:solidFill>
          <a:ln w="25400">
            <a:solidFill>
              <a:srgbClr val="FFFFFF"/>
            </a:solidFill>
            <a:prstDash val="solid"/>
          </a:ln>
        </p:spPr>
      </p:sp>
      <p:sp>
        <p:nvSpPr>
          <p:cNvPr id="38" name="Text 36"/>
          <p:cNvSpPr/>
          <p:nvPr/>
        </p:nvSpPr>
        <p:spPr>
          <a:xfrm>
            <a:off x="2523744" y="320954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39" name="Text 37"/>
          <p:cNvSpPr/>
          <p:nvPr/>
        </p:nvSpPr>
        <p:spPr>
          <a:xfrm>
            <a:off x="2423160" y="366674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40" name="Shape 38"/>
          <p:cNvSpPr/>
          <p:nvPr/>
        </p:nvSpPr>
        <p:spPr>
          <a:xfrm>
            <a:off x="3575304" y="3941064"/>
            <a:ext cx="438912" cy="438912"/>
          </a:xfrm>
          <a:prstGeom prst="ellipse">
            <a:avLst/>
          </a:prstGeom>
          <a:solidFill>
            <a:srgbClr val="1C7293"/>
          </a:solidFill>
          <a:ln w="25400">
            <a:solidFill>
              <a:srgbClr val="FFFFFF"/>
            </a:solidFill>
            <a:prstDash val="solid"/>
          </a:ln>
        </p:spPr>
      </p:sp>
      <p:sp>
        <p:nvSpPr>
          <p:cNvPr id="41" name="Text 39"/>
          <p:cNvSpPr/>
          <p:nvPr/>
        </p:nvSpPr>
        <p:spPr>
          <a:xfrm>
            <a:off x="3575304" y="394106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t>
            </a:r>
            <a:endParaRPr lang="en-US" sz="1400" dirty="0"/>
          </a:p>
        </p:txBody>
      </p:sp>
      <p:sp>
        <p:nvSpPr>
          <p:cNvPr id="42" name="Text 40"/>
          <p:cNvSpPr/>
          <p:nvPr/>
        </p:nvSpPr>
        <p:spPr>
          <a:xfrm>
            <a:off x="3474720" y="439826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C++</a:t>
            </a:r>
            <a:endParaRPr lang="en-US" sz="800" dirty="0"/>
          </a:p>
        </p:txBody>
      </p:sp>
      <p:sp>
        <p:nvSpPr>
          <p:cNvPr id="43" name="Shape 41"/>
          <p:cNvSpPr/>
          <p:nvPr/>
        </p:nvSpPr>
        <p:spPr>
          <a:xfrm>
            <a:off x="4901184" y="3941064"/>
            <a:ext cx="438912" cy="438912"/>
          </a:xfrm>
          <a:prstGeom prst="ellipse">
            <a:avLst/>
          </a:prstGeom>
          <a:solidFill>
            <a:srgbClr val="065A82"/>
          </a:solidFill>
          <a:ln w="25400">
            <a:solidFill>
              <a:srgbClr val="FFFFFF"/>
            </a:solidFill>
            <a:prstDash val="solid"/>
          </a:ln>
        </p:spPr>
      </p:sp>
      <p:sp>
        <p:nvSpPr>
          <p:cNvPr id="44" name="Text 42"/>
          <p:cNvSpPr/>
          <p:nvPr/>
        </p:nvSpPr>
        <p:spPr>
          <a:xfrm>
            <a:off x="4901184" y="394106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t>
            </a:r>
            <a:endParaRPr lang="en-US" sz="1400" dirty="0"/>
          </a:p>
        </p:txBody>
      </p:sp>
      <p:sp>
        <p:nvSpPr>
          <p:cNvPr id="45" name="Text 43"/>
          <p:cNvSpPr/>
          <p:nvPr/>
        </p:nvSpPr>
        <p:spPr>
          <a:xfrm>
            <a:off x="4800600" y="4398264"/>
            <a:ext cx="640080" cy="182880"/>
          </a:xfrm>
          <a:prstGeom prst="rect">
            <a:avLst/>
          </a:prstGeom>
          <a:noFill/>
          <a:ln/>
        </p:spPr>
        <p:txBody>
          <a:bodyPr wrap="square" rtlCol="0" anchor="ctr"/>
          <a:lstStyle/>
          <a:p>
            <a:pPr algn="ctr" indent="0" marL="0">
              <a:buNone/>
            </a:pPr>
            <a:r>
              <a:rPr lang="en-US" sz="800" dirty="0">
                <a:solidFill>
                  <a:srgbClr val="5E6B7E"/>
                </a:solidFill>
                <a:latin typeface="Calibri" pitchFamily="34" charset="0"/>
                <a:ea typeface="Calibri" pitchFamily="34" charset="-122"/>
                <a:cs typeface="Calibri" pitchFamily="34" charset="-120"/>
              </a:rPr>
              <a:t>Py</a:t>
            </a:r>
            <a:endParaRPr lang="en-US" sz="800" dirty="0"/>
          </a:p>
        </p:txBody>
      </p:sp>
      <p:sp>
        <p:nvSpPr>
          <p:cNvPr id="46" name="Shape 44"/>
          <p:cNvSpPr/>
          <p:nvPr/>
        </p:nvSpPr>
        <p:spPr>
          <a:xfrm>
            <a:off x="502920" y="4297680"/>
            <a:ext cx="164592" cy="164592"/>
          </a:xfrm>
          <a:prstGeom prst="ellipse">
            <a:avLst/>
          </a:prstGeom>
          <a:solidFill>
            <a:srgbClr val="F96167"/>
          </a:solidFill>
          <a:ln w="12700">
            <a:solidFill>
              <a:srgbClr val="F96167"/>
            </a:solidFill>
            <a:prstDash val="solid"/>
          </a:ln>
        </p:spPr>
      </p:sp>
      <p:sp>
        <p:nvSpPr>
          <p:cNvPr id="47" name="Text 45"/>
          <p:cNvSpPr/>
          <p:nvPr/>
        </p:nvSpPr>
        <p:spPr>
          <a:xfrm>
            <a:off x="694944" y="4261104"/>
            <a:ext cx="1371600" cy="228600"/>
          </a:xfrm>
          <a:prstGeom prst="rect">
            <a:avLst/>
          </a:prstGeom>
          <a:noFill/>
          <a:ln/>
        </p:spPr>
        <p:txBody>
          <a:bodyPr wrap="square" rtlCol="0" anchor="ctr"/>
          <a:lstStyle/>
          <a:p>
            <a:pPr indent="0" marL="0">
              <a:buNone/>
            </a:pPr>
            <a:r>
              <a:rPr lang="en-US" sz="900" dirty="0">
                <a:solidFill>
                  <a:srgbClr val="0F1A2B"/>
                </a:solidFill>
                <a:latin typeface="Calibri" pitchFamily="34" charset="0"/>
                <a:ea typeface="Calibri" pitchFamily="34" charset="-122"/>
                <a:cs typeface="Calibri" pitchFamily="34" charset="-120"/>
              </a:rPr>
              <a:t>root / portal</a:t>
            </a:r>
            <a:endParaRPr lang="en-US" sz="900" dirty="0"/>
          </a:p>
        </p:txBody>
      </p:sp>
      <p:sp>
        <p:nvSpPr>
          <p:cNvPr id="48" name="Shape 46"/>
          <p:cNvSpPr/>
          <p:nvPr/>
        </p:nvSpPr>
        <p:spPr>
          <a:xfrm>
            <a:off x="2057400" y="4297680"/>
            <a:ext cx="164592" cy="164592"/>
          </a:xfrm>
          <a:prstGeom prst="ellipse">
            <a:avLst/>
          </a:prstGeom>
          <a:solidFill>
            <a:srgbClr val="1C7293"/>
          </a:solidFill>
          <a:ln w="12700">
            <a:solidFill>
              <a:srgbClr val="1C7293"/>
            </a:solidFill>
            <a:prstDash val="solid"/>
          </a:ln>
        </p:spPr>
      </p:sp>
      <p:sp>
        <p:nvSpPr>
          <p:cNvPr id="49" name="Text 47"/>
          <p:cNvSpPr/>
          <p:nvPr/>
        </p:nvSpPr>
        <p:spPr>
          <a:xfrm>
            <a:off x="2249424" y="4261104"/>
            <a:ext cx="1097280" cy="228600"/>
          </a:xfrm>
          <a:prstGeom prst="rect">
            <a:avLst/>
          </a:prstGeom>
          <a:noFill/>
          <a:ln/>
        </p:spPr>
        <p:txBody>
          <a:bodyPr wrap="square" rtlCol="0" anchor="ctr"/>
          <a:lstStyle/>
          <a:p>
            <a:pPr indent="0" marL="0">
              <a:buNone/>
            </a:pPr>
            <a:r>
              <a:rPr lang="en-US" sz="900" dirty="0">
                <a:solidFill>
                  <a:srgbClr val="0F1A2B"/>
                </a:solidFill>
                <a:latin typeface="Calibri" pitchFamily="34" charset="0"/>
                <a:ea typeface="Calibri" pitchFamily="34" charset="-122"/>
                <a:cs typeface="Calibri" pitchFamily="34" charset="-120"/>
              </a:rPr>
              <a:t>C++ node</a:t>
            </a:r>
            <a:endParaRPr lang="en-US" sz="900" dirty="0"/>
          </a:p>
        </p:txBody>
      </p:sp>
      <p:sp>
        <p:nvSpPr>
          <p:cNvPr id="50" name="Shape 48"/>
          <p:cNvSpPr/>
          <p:nvPr/>
        </p:nvSpPr>
        <p:spPr>
          <a:xfrm>
            <a:off x="3337560" y="4297680"/>
            <a:ext cx="164592" cy="164592"/>
          </a:xfrm>
          <a:prstGeom prst="ellipse">
            <a:avLst/>
          </a:prstGeom>
          <a:solidFill>
            <a:srgbClr val="065A82"/>
          </a:solidFill>
          <a:ln w="12700">
            <a:solidFill>
              <a:srgbClr val="065A82"/>
            </a:solidFill>
            <a:prstDash val="solid"/>
          </a:ln>
        </p:spPr>
      </p:sp>
      <p:sp>
        <p:nvSpPr>
          <p:cNvPr id="51" name="Text 49"/>
          <p:cNvSpPr/>
          <p:nvPr/>
        </p:nvSpPr>
        <p:spPr>
          <a:xfrm>
            <a:off x="3529584" y="4261104"/>
            <a:ext cx="2011680" cy="228600"/>
          </a:xfrm>
          <a:prstGeom prst="rect">
            <a:avLst/>
          </a:prstGeom>
          <a:noFill/>
          <a:ln/>
        </p:spPr>
        <p:txBody>
          <a:bodyPr wrap="square" rtlCol="0" anchor="ctr"/>
          <a:lstStyle/>
          <a:p>
            <a:pPr indent="0" marL="0">
              <a:buNone/>
            </a:pPr>
            <a:r>
              <a:rPr lang="en-US" sz="900" dirty="0">
                <a:solidFill>
                  <a:srgbClr val="0F1A2B"/>
                </a:solidFill>
                <a:latin typeface="Calibri" pitchFamily="34" charset="0"/>
                <a:ea typeface="Calibri" pitchFamily="34" charset="-122"/>
                <a:cs typeface="Calibri" pitchFamily="34" charset="-120"/>
              </a:rPr>
              <a:t>Python node (G, I)</a:t>
            </a:r>
            <a:endParaRPr lang="en-US" sz="900" dirty="0"/>
          </a:p>
        </p:txBody>
      </p:sp>
      <p:sp>
        <p:nvSpPr>
          <p:cNvPr id="52" name="Shape 50"/>
          <p:cNvSpPr/>
          <p:nvPr/>
        </p:nvSpPr>
        <p:spPr>
          <a:xfrm>
            <a:off x="6355080" y="1005840"/>
            <a:ext cx="5532120" cy="3657600"/>
          </a:xfrm>
          <a:prstGeom prst="roundRect">
            <a:avLst>
              <a:gd name="adj" fmla="val 2000"/>
            </a:avLst>
          </a:prstGeom>
          <a:solidFill>
            <a:srgbClr val="FFFFFF"/>
          </a:solidFill>
          <a:ln w="12700">
            <a:solidFill>
              <a:srgbClr val="D6DEE8"/>
            </a:solidFill>
            <a:prstDash val="solid"/>
          </a:ln>
        </p:spPr>
      </p:sp>
      <p:sp>
        <p:nvSpPr>
          <p:cNvPr id="53" name="Text 51"/>
          <p:cNvSpPr/>
          <p:nvPr/>
        </p:nvSpPr>
        <p:spPr>
          <a:xfrm>
            <a:off x="6492240" y="1078992"/>
            <a:ext cx="5303520" cy="32004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Design — gRPC unary only, no streaming</a:t>
            </a:r>
            <a:endParaRPr lang="en-US" sz="1400" dirty="0"/>
          </a:p>
        </p:txBody>
      </p:sp>
      <p:sp>
        <p:nvSpPr>
          <p:cNvPr id="54" name="Shape 52"/>
          <p:cNvSpPr/>
          <p:nvPr/>
        </p:nvSpPr>
        <p:spPr>
          <a:xfrm>
            <a:off x="6492240" y="1417320"/>
            <a:ext cx="2606040" cy="1508760"/>
          </a:xfrm>
          <a:prstGeom prst="roundRect">
            <a:avLst>
              <a:gd name="adj" fmla="val 3030"/>
            </a:avLst>
          </a:prstGeom>
          <a:solidFill>
            <a:srgbClr val="EEF3F8"/>
          </a:solidFill>
          <a:ln w="6350">
            <a:solidFill>
              <a:srgbClr val="D6DEE8"/>
            </a:solidFill>
            <a:prstDash val="solid"/>
          </a:ln>
        </p:spPr>
      </p:sp>
      <p:sp>
        <p:nvSpPr>
          <p:cNvPr id="55" name="Shape 53"/>
          <p:cNvSpPr/>
          <p:nvPr/>
        </p:nvSpPr>
        <p:spPr>
          <a:xfrm>
            <a:off x="6601968" y="1554480"/>
            <a:ext cx="109728" cy="109728"/>
          </a:xfrm>
          <a:prstGeom prst="rect">
            <a:avLst/>
          </a:prstGeom>
          <a:solidFill>
            <a:srgbClr val="1C7293"/>
          </a:solidFill>
          <a:ln w="12700">
            <a:solidFill>
              <a:srgbClr val="1C7293"/>
            </a:solidFill>
            <a:prstDash val="solid"/>
          </a:ln>
        </p:spPr>
      </p:sp>
      <p:sp>
        <p:nvSpPr>
          <p:cNvPr id="56" name="Text 54"/>
          <p:cNvSpPr/>
          <p:nvPr/>
        </p:nvSpPr>
        <p:spPr>
          <a:xfrm>
            <a:off x="6766560" y="1472184"/>
            <a:ext cx="2286000" cy="274320"/>
          </a:xfrm>
          <a:prstGeom prst="rect">
            <a:avLst/>
          </a:prstGeom>
          <a:noFill/>
          <a:ln/>
        </p:spPr>
        <p:txBody>
          <a:bodyPr wrap="square"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Two services</a:t>
            </a:r>
            <a:endParaRPr lang="en-US" sz="1200" dirty="0"/>
          </a:p>
        </p:txBody>
      </p:sp>
      <p:sp>
        <p:nvSpPr>
          <p:cNvPr id="57" name="Text 55"/>
          <p:cNvSpPr/>
          <p:nvPr/>
        </p:nvSpPr>
        <p:spPr>
          <a:xfrm>
            <a:off x="6629400" y="1764792"/>
            <a:ext cx="2377440" cy="1097280"/>
          </a:xfrm>
          <a:prstGeom prst="rect">
            <a:avLst/>
          </a:prstGeom>
          <a:noFill/>
          <a:ln/>
        </p:spPr>
        <p:txBody>
          <a:bodyPr wrap="square" rtlCol="0" anchor="ctr"/>
          <a:lstStyle/>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Portal (client ↔ root A) · Overlay (node ↔ node).</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RPCs: SubmitQuery, FetchChunk, CancelQuery,</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ForwardQuery, PushChunk, Abort, Ping.</a:t>
            </a:r>
            <a:endParaRPr lang="en-US" sz="950" dirty="0"/>
          </a:p>
        </p:txBody>
      </p:sp>
      <p:sp>
        <p:nvSpPr>
          <p:cNvPr id="58" name="Shape 56"/>
          <p:cNvSpPr/>
          <p:nvPr/>
        </p:nvSpPr>
        <p:spPr>
          <a:xfrm>
            <a:off x="9189720" y="1417320"/>
            <a:ext cx="2606040" cy="1508760"/>
          </a:xfrm>
          <a:prstGeom prst="roundRect">
            <a:avLst>
              <a:gd name="adj" fmla="val 3030"/>
            </a:avLst>
          </a:prstGeom>
          <a:solidFill>
            <a:srgbClr val="EEF3F8"/>
          </a:solidFill>
          <a:ln w="6350">
            <a:solidFill>
              <a:srgbClr val="D6DEE8"/>
            </a:solidFill>
            <a:prstDash val="solid"/>
          </a:ln>
        </p:spPr>
      </p:sp>
      <p:sp>
        <p:nvSpPr>
          <p:cNvPr id="59" name="Shape 57"/>
          <p:cNvSpPr/>
          <p:nvPr/>
        </p:nvSpPr>
        <p:spPr>
          <a:xfrm>
            <a:off x="9299448" y="1554480"/>
            <a:ext cx="109728" cy="109728"/>
          </a:xfrm>
          <a:prstGeom prst="rect">
            <a:avLst/>
          </a:prstGeom>
          <a:solidFill>
            <a:srgbClr val="1C7293"/>
          </a:solidFill>
          <a:ln w="12700">
            <a:solidFill>
              <a:srgbClr val="1C7293"/>
            </a:solidFill>
            <a:prstDash val="solid"/>
          </a:ln>
        </p:spPr>
      </p:sp>
      <p:sp>
        <p:nvSpPr>
          <p:cNvPr id="60" name="Text 58"/>
          <p:cNvSpPr/>
          <p:nvPr/>
        </p:nvSpPr>
        <p:spPr>
          <a:xfrm>
            <a:off x="9464040" y="1472184"/>
            <a:ext cx="2286000" cy="274320"/>
          </a:xfrm>
          <a:prstGeom prst="rect">
            <a:avLst/>
          </a:prstGeom>
          <a:noFill/>
          <a:ln/>
        </p:spPr>
        <p:txBody>
          <a:bodyPr wrap="square"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Streaming-without-streaming</a:t>
            </a:r>
            <a:endParaRPr lang="en-US" sz="1200" dirty="0"/>
          </a:p>
        </p:txBody>
      </p:sp>
      <p:sp>
        <p:nvSpPr>
          <p:cNvPr id="61" name="Text 59"/>
          <p:cNvSpPr/>
          <p:nvPr/>
        </p:nvSpPr>
        <p:spPr>
          <a:xfrm>
            <a:off x="9326880" y="1764792"/>
            <a:ext cx="2377440" cy="1097280"/>
          </a:xfrm>
          <a:prstGeom prst="rect">
            <a:avLst/>
          </a:prstGeom>
          <a:noFill/>
          <a:ln/>
        </p:spPr>
        <p:txBody>
          <a:bodyPr wrap="square" rtlCol="0" anchor="ctr"/>
          <a:lstStyle/>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Leaves PUSH chunks upward via repeated</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unary PushChunk calls; root buffers per-request;</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client PULLs via FetchChunk. Pace = client's.</a:t>
            </a:r>
            <a:endParaRPr lang="en-US" sz="950" dirty="0"/>
          </a:p>
        </p:txBody>
      </p:sp>
      <p:sp>
        <p:nvSpPr>
          <p:cNvPr id="62" name="Shape 60"/>
          <p:cNvSpPr/>
          <p:nvPr/>
        </p:nvSpPr>
        <p:spPr>
          <a:xfrm>
            <a:off x="6492240" y="2999232"/>
            <a:ext cx="2606040" cy="1508760"/>
          </a:xfrm>
          <a:prstGeom prst="roundRect">
            <a:avLst>
              <a:gd name="adj" fmla="val 3030"/>
            </a:avLst>
          </a:prstGeom>
          <a:solidFill>
            <a:srgbClr val="EEF3F8"/>
          </a:solidFill>
          <a:ln w="6350">
            <a:solidFill>
              <a:srgbClr val="D6DEE8"/>
            </a:solidFill>
            <a:prstDash val="solid"/>
          </a:ln>
        </p:spPr>
      </p:sp>
      <p:sp>
        <p:nvSpPr>
          <p:cNvPr id="63" name="Shape 61"/>
          <p:cNvSpPr/>
          <p:nvPr/>
        </p:nvSpPr>
        <p:spPr>
          <a:xfrm>
            <a:off x="6601968" y="3136392"/>
            <a:ext cx="109728" cy="109728"/>
          </a:xfrm>
          <a:prstGeom prst="rect">
            <a:avLst/>
          </a:prstGeom>
          <a:solidFill>
            <a:srgbClr val="1C7293"/>
          </a:solidFill>
          <a:ln w="12700">
            <a:solidFill>
              <a:srgbClr val="1C7293"/>
            </a:solidFill>
            <a:prstDash val="solid"/>
          </a:ln>
        </p:spPr>
      </p:sp>
      <p:sp>
        <p:nvSpPr>
          <p:cNvPr id="64" name="Text 62"/>
          <p:cNvSpPr/>
          <p:nvPr/>
        </p:nvSpPr>
        <p:spPr>
          <a:xfrm>
            <a:off x="6766560" y="3054096"/>
            <a:ext cx="2286000" cy="274320"/>
          </a:xfrm>
          <a:prstGeom prst="rect">
            <a:avLst/>
          </a:prstGeom>
          <a:noFill/>
          <a:ln/>
        </p:spPr>
        <p:txBody>
          <a:bodyPr wrap="square"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Backpressure + fairness</a:t>
            </a:r>
            <a:endParaRPr lang="en-US" sz="1200" dirty="0"/>
          </a:p>
        </p:txBody>
      </p:sp>
      <p:sp>
        <p:nvSpPr>
          <p:cNvPr id="65" name="Text 63"/>
          <p:cNvSpPr/>
          <p:nvPr/>
        </p:nvSpPr>
        <p:spPr>
          <a:xfrm>
            <a:off x="6629400" y="3346704"/>
            <a:ext cx="2377440" cy="1097280"/>
          </a:xfrm>
          <a:prstGeom prst="rect">
            <a:avLst/>
          </a:prstGeom>
          <a:noFill/>
          <a:ln/>
        </p:spPr>
        <p:txBody>
          <a:bodyPr wrap="square" rtlCol="0" anchor="ctr"/>
          <a:lstStyle/>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Bounded ChunkBuffer per request (cap in config)</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 slow client can't starve others.</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Adaptive chunk size via EWMA on fetch cadence.</a:t>
            </a:r>
            <a:endParaRPr lang="en-US" sz="950" dirty="0"/>
          </a:p>
        </p:txBody>
      </p:sp>
      <p:sp>
        <p:nvSpPr>
          <p:cNvPr id="66" name="Shape 64"/>
          <p:cNvSpPr/>
          <p:nvPr/>
        </p:nvSpPr>
        <p:spPr>
          <a:xfrm>
            <a:off x="9189720" y="2999232"/>
            <a:ext cx="2606040" cy="1508760"/>
          </a:xfrm>
          <a:prstGeom prst="roundRect">
            <a:avLst>
              <a:gd name="adj" fmla="val 3030"/>
            </a:avLst>
          </a:prstGeom>
          <a:solidFill>
            <a:srgbClr val="EEF3F8"/>
          </a:solidFill>
          <a:ln w="6350">
            <a:solidFill>
              <a:srgbClr val="D6DEE8"/>
            </a:solidFill>
            <a:prstDash val="solid"/>
          </a:ln>
        </p:spPr>
      </p:sp>
      <p:sp>
        <p:nvSpPr>
          <p:cNvPr id="67" name="Shape 65"/>
          <p:cNvSpPr/>
          <p:nvPr/>
        </p:nvSpPr>
        <p:spPr>
          <a:xfrm>
            <a:off x="9299448" y="3136392"/>
            <a:ext cx="109728" cy="109728"/>
          </a:xfrm>
          <a:prstGeom prst="rect">
            <a:avLst/>
          </a:prstGeom>
          <a:solidFill>
            <a:srgbClr val="1C7293"/>
          </a:solidFill>
          <a:ln w="12700">
            <a:solidFill>
              <a:srgbClr val="1C7293"/>
            </a:solidFill>
            <a:prstDash val="solid"/>
          </a:ln>
        </p:spPr>
      </p:sp>
      <p:sp>
        <p:nvSpPr>
          <p:cNvPr id="68" name="Text 66"/>
          <p:cNvSpPr/>
          <p:nvPr/>
        </p:nvSpPr>
        <p:spPr>
          <a:xfrm>
            <a:off x="9464040" y="3054096"/>
            <a:ext cx="2286000" cy="274320"/>
          </a:xfrm>
          <a:prstGeom prst="rect">
            <a:avLst/>
          </a:prstGeom>
          <a:noFill/>
          <a:ln/>
        </p:spPr>
        <p:txBody>
          <a:bodyPr wrap="square"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Partitioning + typed SoA</a:t>
            </a:r>
            <a:endParaRPr lang="en-US" sz="1200" dirty="0"/>
          </a:p>
        </p:txBody>
      </p:sp>
      <p:sp>
        <p:nvSpPr>
          <p:cNvPr id="69" name="Text 67"/>
          <p:cNvSpPr/>
          <p:nvPr/>
        </p:nvSpPr>
        <p:spPr>
          <a:xfrm>
            <a:off x="9326880" y="3346704"/>
            <a:ext cx="2377440" cy="1097280"/>
          </a:xfrm>
          <a:prstGeom prst="rect">
            <a:avLst/>
          </a:prstGeom>
          <a:noFill/>
          <a:ln/>
        </p:spPr>
        <p:txBody>
          <a:bodyPr wrap="square" rtlCol="0" anchor="ctr"/>
          <a:lstStyle/>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hash(unique_key) % 9 → 1 partition per node.</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Columns: uint64 key, uint32 ymd, uint8 borough,</a:t>
            </a:r>
            <a:endParaRPr lang="en-US" sz="950" dirty="0"/>
          </a:p>
          <a:p>
            <a:pPr indent="0" marL="0">
              <a:spcAft>
                <a:spcPts val="200"/>
              </a:spcAft>
              <a:buNone/>
            </a:pPr>
            <a:r>
              <a:rPr lang="en-US" sz="950" dirty="0">
                <a:solidFill>
                  <a:srgbClr val="0F1A2B"/>
                </a:solidFill>
                <a:latin typeface="Calibri" pitchFamily="34" charset="0"/>
                <a:ea typeface="Calibri" pitchFamily="34" charset="-122"/>
                <a:cs typeface="Calibri" pitchFamily="34" charset="-120"/>
              </a:rPr>
              <a:t>double lat/lon. reserve() everywhere.</a:t>
            </a:r>
            <a:endParaRPr lang="en-US" sz="950" dirty="0"/>
          </a:p>
        </p:txBody>
      </p:sp>
      <p:sp>
        <p:nvSpPr>
          <p:cNvPr id="70" name="Shape 68"/>
          <p:cNvSpPr/>
          <p:nvPr/>
        </p:nvSpPr>
        <p:spPr>
          <a:xfrm>
            <a:off x="320040" y="4800600"/>
            <a:ext cx="11567160" cy="777240"/>
          </a:xfrm>
          <a:prstGeom prst="roundRect">
            <a:avLst>
              <a:gd name="adj" fmla="val 9412"/>
            </a:avLst>
          </a:prstGeom>
          <a:solidFill>
            <a:srgbClr val="21295C"/>
          </a:solidFill>
          <a:ln w="12700">
            <a:solidFill>
              <a:srgbClr val="21295C"/>
            </a:solidFill>
            <a:prstDash val="solid"/>
          </a:ln>
        </p:spPr>
      </p:sp>
      <p:sp>
        <p:nvSpPr>
          <p:cNvPr id="71" name="Text 69"/>
          <p:cNvSpPr/>
          <p:nvPr/>
        </p:nvSpPr>
        <p:spPr>
          <a:xfrm>
            <a:off x="502920" y="4846320"/>
            <a:ext cx="2377440" cy="320040"/>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End-to-end flow</a:t>
            </a:r>
            <a:endParaRPr lang="en-US" sz="1100" dirty="0"/>
          </a:p>
        </p:txBody>
      </p:sp>
      <p:sp>
        <p:nvSpPr>
          <p:cNvPr id="72" name="Text 70"/>
          <p:cNvSpPr/>
          <p:nvPr/>
        </p:nvSpPr>
        <p:spPr>
          <a:xfrm>
            <a:off x="502920" y="5074920"/>
            <a:ext cx="11155680"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Client → SubmitQuery(A) → ForwardQuery fan-out (visited-set + dup-id dedupe) → leaves scan partitions → PushChunk walks back one-hop upstream → root buffers → Client FetchChunk pulls (adapts chunk size) → done / Cancel / TTL-GC</a:t>
            </a:r>
            <a:endParaRPr lang="en-US" sz="1050" dirty="0"/>
          </a:p>
        </p:txBody>
      </p:sp>
      <p:sp>
        <p:nvSpPr>
          <p:cNvPr id="73" name="Shape 71"/>
          <p:cNvSpPr/>
          <p:nvPr/>
        </p:nvSpPr>
        <p:spPr>
          <a:xfrm>
            <a:off x="320040" y="5715000"/>
            <a:ext cx="7863840" cy="1051560"/>
          </a:xfrm>
          <a:prstGeom prst="roundRect">
            <a:avLst>
              <a:gd name="adj" fmla="val 6957"/>
            </a:avLst>
          </a:prstGeom>
          <a:solidFill>
            <a:srgbClr val="FFFFFF"/>
          </a:solidFill>
          <a:ln w="19050">
            <a:solidFill>
              <a:srgbClr val="F96167"/>
            </a:solidFill>
            <a:prstDash val="solid"/>
          </a:ln>
        </p:spPr>
      </p:sp>
      <p:sp>
        <p:nvSpPr>
          <p:cNvPr id="74" name="Shape 72"/>
          <p:cNvSpPr/>
          <p:nvPr/>
        </p:nvSpPr>
        <p:spPr>
          <a:xfrm>
            <a:off x="320040" y="5715000"/>
            <a:ext cx="137160" cy="1051560"/>
          </a:xfrm>
          <a:prstGeom prst="rect">
            <a:avLst/>
          </a:prstGeom>
          <a:solidFill>
            <a:srgbClr val="F96167"/>
          </a:solidFill>
          <a:ln w="12700">
            <a:solidFill>
              <a:srgbClr val="F96167"/>
            </a:solidFill>
            <a:prstDash val="solid"/>
          </a:ln>
        </p:spPr>
      </p:sp>
      <p:sp>
        <p:nvSpPr>
          <p:cNvPr id="75" name="Text 73"/>
          <p:cNvSpPr/>
          <p:nvPr/>
        </p:nvSpPr>
        <p:spPr>
          <a:xfrm>
            <a:off x="548640" y="5760720"/>
            <a:ext cx="7589520" cy="274320"/>
          </a:xfrm>
          <a:prstGeom prst="rect">
            <a:avLst/>
          </a:prstGeom>
          <a:noFill/>
          <a:ln/>
        </p:spPr>
        <p:txBody>
          <a:bodyPr wrap="square" rtlCol="0" anchor="ctr"/>
          <a:lstStyle/>
          <a:p>
            <a:pPr indent="0" marL="0">
              <a:buNone/>
            </a:pPr>
            <a:r>
              <a:rPr lang="en-US" sz="1200" b="1" dirty="0">
                <a:solidFill>
                  <a:srgbClr val="F96167"/>
                </a:solidFill>
                <a:latin typeface="Calibri" pitchFamily="34" charset="0"/>
                <a:ea typeface="Calibri" pitchFamily="34" charset="-122"/>
                <a:cs typeface="Calibri" pitchFamily="34" charset="-120"/>
              </a:rPr>
              <a:t>Mini 1 feedback — addressed</a:t>
            </a:r>
            <a:endParaRPr lang="en-US" sz="1200" dirty="0"/>
          </a:p>
        </p:txBody>
      </p:sp>
      <p:sp>
        <p:nvSpPr>
          <p:cNvPr id="76" name="Text 74"/>
          <p:cNvSpPr/>
          <p:nvPr/>
        </p:nvSpPr>
        <p:spPr>
          <a:xfrm>
            <a:off x="594360" y="6035040"/>
            <a:ext cx="2468880" cy="32004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a:t>
            </a:r>
            <a:pPr indent="0" marL="0">
              <a:buNone/>
            </a:pPr>
            <a:r>
              <a:rPr lang="en-US" sz="950" b="1" dirty="0">
                <a:solidFill>
                  <a:srgbClr val="0F1A2B"/>
                </a:solidFill>
                <a:latin typeface="Calibri" pitchFamily="34" charset="0"/>
                <a:ea typeface="Calibri" pitchFamily="34" charset="-122"/>
                <a:cs typeface="Calibri" pitchFamily="34" charset="-120"/>
              </a:rPr>
              <a:t>reserve() </a:t>
            </a:r>
            <a:pPr indent="0" marL="0">
              <a:buNone/>
            </a:pPr>
            <a:r>
              <a:rPr lang="en-US" sz="950" dirty="0">
                <a:solidFill>
                  <a:srgbClr val="5E6B7E"/>
                </a:solidFill>
                <a:latin typeface="Calibri" pitchFamily="34" charset="0"/>
                <a:ea typeface="Calibri" pitchFamily="34" charset="-122"/>
                <a:cs typeface="Calibri" pitchFamily="34" charset="-120"/>
              </a:rPr>
              <a:t>— every growing vector pre-sized</a:t>
            </a:r>
            <a:endParaRPr lang="en-US" sz="950" dirty="0"/>
          </a:p>
        </p:txBody>
      </p:sp>
      <p:sp>
        <p:nvSpPr>
          <p:cNvPr id="77" name="Text 75"/>
          <p:cNvSpPr/>
          <p:nvPr/>
        </p:nvSpPr>
        <p:spPr>
          <a:xfrm>
            <a:off x="3108960" y="6035040"/>
            <a:ext cx="2468880" cy="32004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a:t>
            </a:r>
            <a:pPr indent="0" marL="0">
              <a:buNone/>
            </a:pPr>
            <a:r>
              <a:rPr lang="en-US" sz="950" b="1" dirty="0">
                <a:solidFill>
                  <a:srgbClr val="0F1A2B"/>
                </a:solidFill>
                <a:latin typeface="Calibri" pitchFamily="34" charset="0"/>
                <a:ea typeface="Calibri" pitchFamily="34" charset="-122"/>
                <a:cs typeface="Calibri" pitchFamily="34" charset="-120"/>
              </a:rPr>
              <a:t>dense types </a:t>
            </a:r>
            <a:pPr indent="0" marL="0">
              <a:buNone/>
            </a:pPr>
            <a:r>
              <a:rPr lang="en-US" sz="950" dirty="0">
                <a:solidFill>
                  <a:srgbClr val="5E6B7E"/>
                </a:solidFill>
                <a:latin typeface="Calibri" pitchFamily="34" charset="0"/>
                <a:ea typeface="Calibri" pitchFamily="34" charset="-122"/>
                <a:cs typeface="Calibri" pitchFamily="34" charset="-120"/>
              </a:rPr>
              <a:t>— uint8/uint32 columns, no padding waste</a:t>
            </a:r>
            <a:endParaRPr lang="en-US" sz="950" dirty="0"/>
          </a:p>
        </p:txBody>
      </p:sp>
      <p:sp>
        <p:nvSpPr>
          <p:cNvPr id="78" name="Text 76"/>
          <p:cNvSpPr/>
          <p:nvPr/>
        </p:nvSpPr>
        <p:spPr>
          <a:xfrm>
            <a:off x="5623560" y="6035040"/>
            <a:ext cx="2468880" cy="32004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a:t>
            </a:r>
            <a:pPr indent="0" marL="0">
              <a:buNone/>
            </a:pPr>
            <a:r>
              <a:rPr lang="en-US" sz="950" b="1" dirty="0">
                <a:solidFill>
                  <a:srgbClr val="0F1A2B"/>
                </a:solidFill>
                <a:latin typeface="Calibri" pitchFamily="34" charset="0"/>
                <a:ea typeface="Calibri" pitchFamily="34" charset="-122"/>
                <a:cs typeface="Calibri" pitchFamily="34" charset="-120"/>
              </a:rPr>
              <a:t>lock scope </a:t>
            </a:r>
            <a:pPr indent="0" marL="0">
              <a:buNone/>
            </a:pPr>
            <a:r>
              <a:rPr lang="en-US" sz="950" dirty="0">
                <a:solidFill>
                  <a:srgbClr val="5E6B7E"/>
                </a:solidFill>
                <a:latin typeface="Calibri" pitchFamily="34" charset="0"/>
                <a:ea typeface="Calibri" pitchFamily="34" charset="-122"/>
                <a:cs typeface="Calibri" pitchFamily="34" charset="-120"/>
              </a:rPr>
              <a:t>— per-batch, not per-row; no global critical</a:t>
            </a:r>
            <a:endParaRPr lang="en-US" sz="950" dirty="0"/>
          </a:p>
        </p:txBody>
      </p:sp>
      <p:sp>
        <p:nvSpPr>
          <p:cNvPr id="79" name="Text 77"/>
          <p:cNvSpPr/>
          <p:nvPr/>
        </p:nvSpPr>
        <p:spPr>
          <a:xfrm>
            <a:off x="594360" y="6382512"/>
            <a:ext cx="2468880" cy="32004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a:t>
            </a:r>
            <a:pPr indent="0" marL="0">
              <a:buNone/>
            </a:pPr>
            <a:r>
              <a:rPr lang="en-US" sz="950" b="1" dirty="0">
                <a:solidFill>
                  <a:srgbClr val="0F1A2B"/>
                </a:solidFill>
                <a:latin typeface="Calibri" pitchFamily="34" charset="0"/>
                <a:ea typeface="Calibri" pitchFamily="34" charset="-122"/>
                <a:cs typeface="Calibri" pitchFamily="34" charset="-120"/>
              </a:rPr>
              <a:t>no linear scan </a:t>
            </a:r>
            <a:pPr indent="0" marL="0">
              <a:buNone/>
            </a:pPr>
            <a:r>
              <a:rPr lang="en-US" sz="950" dirty="0">
                <a:solidFill>
                  <a:srgbClr val="5E6B7E"/>
                </a:solidFill>
                <a:latin typeface="Calibri" pitchFamily="34" charset="0"/>
                <a:ea typeface="Calibri" pitchFamily="34" charset="-122"/>
                <a:cs typeface="Calibri" pitchFamily="34" charset="-120"/>
              </a:rPr>
              <a:t>— column-predicate pushdown + partitioning</a:t>
            </a:r>
            <a:endParaRPr lang="en-US" sz="950" dirty="0"/>
          </a:p>
        </p:txBody>
      </p:sp>
      <p:sp>
        <p:nvSpPr>
          <p:cNvPr id="80" name="Text 78"/>
          <p:cNvSpPr/>
          <p:nvPr/>
        </p:nvSpPr>
        <p:spPr>
          <a:xfrm>
            <a:off x="3108960" y="6382512"/>
            <a:ext cx="2468880" cy="32004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a:t>
            </a:r>
            <a:pPr indent="0" marL="0">
              <a:buNone/>
            </a:pPr>
            <a:r>
              <a:rPr lang="en-US" sz="950" b="1" dirty="0">
                <a:solidFill>
                  <a:srgbClr val="0F1A2B"/>
                </a:solidFill>
                <a:latin typeface="Calibri" pitchFamily="34" charset="0"/>
                <a:ea typeface="Calibri" pitchFamily="34" charset="-122"/>
                <a:cs typeface="Calibri" pitchFamily="34" charset="-120"/>
              </a:rPr>
              <a:t>multi-field </a:t>
            </a:r>
            <a:pPr indent="0" marL="0">
              <a:buNone/>
            </a:pPr>
            <a:r>
              <a:rPr lang="en-US" sz="950" dirty="0">
                <a:solidFill>
                  <a:srgbClr val="5E6B7E"/>
                </a:solidFill>
                <a:latin typeface="Calibri" pitchFamily="34" charset="0"/>
                <a:ea typeface="Calibri" pitchFamily="34" charset="-122"/>
                <a:cs typeface="Calibri" pitchFamily="34" charset="-120"/>
              </a:rPr>
              <a:t>— QuerySpec takes any combo of filters</a:t>
            </a:r>
            <a:endParaRPr lang="en-US" sz="950" dirty="0"/>
          </a:p>
        </p:txBody>
      </p:sp>
      <p:sp>
        <p:nvSpPr>
          <p:cNvPr id="81" name="Shape 79"/>
          <p:cNvSpPr/>
          <p:nvPr/>
        </p:nvSpPr>
        <p:spPr>
          <a:xfrm>
            <a:off x="8366760" y="5715000"/>
            <a:ext cx="3520440" cy="1051560"/>
          </a:xfrm>
          <a:prstGeom prst="roundRect">
            <a:avLst>
              <a:gd name="adj" fmla="val 6957"/>
            </a:avLst>
          </a:prstGeom>
          <a:solidFill>
            <a:srgbClr val="EEF3F8"/>
          </a:solidFill>
          <a:ln w="12700">
            <a:solidFill>
              <a:srgbClr val="D6DEE8"/>
            </a:solidFill>
            <a:prstDash val="solid"/>
          </a:ln>
        </p:spPr>
      </p:sp>
      <p:sp>
        <p:nvSpPr>
          <p:cNvPr id="82" name="Text 80"/>
          <p:cNvSpPr/>
          <p:nvPr/>
        </p:nvSpPr>
        <p:spPr>
          <a:xfrm>
            <a:off x="8503920" y="5760720"/>
            <a:ext cx="3291840" cy="256032"/>
          </a:xfrm>
          <a:prstGeom prst="rect">
            <a:avLst/>
          </a:prstGeom>
          <a:noFill/>
          <a:ln/>
        </p:spPr>
        <p:txBody>
          <a:bodyPr wrap="square"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Measured (9-node cluster · 50k rows · n=3)</a:t>
            </a:r>
            <a:endParaRPr lang="en-US" sz="1050" dirty="0"/>
          </a:p>
        </p:txBody>
      </p:sp>
      <p:sp>
        <p:nvSpPr>
          <p:cNvPr id="83" name="Text 81"/>
          <p:cNvSpPr/>
          <p:nvPr/>
        </p:nvSpPr>
        <p:spPr>
          <a:xfrm>
            <a:off x="8503920" y="5989320"/>
            <a:ext cx="3291840" cy="777240"/>
          </a:xfrm>
          <a:prstGeom prst="rect">
            <a:avLst/>
          </a:prstGeom>
          <a:noFill/>
          <a:ln/>
        </p:spPr>
        <p:txBody>
          <a:bodyPr wrap="square"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81.4 ms </a:t>
            </a:r>
            <a:pPr indent="0" marL="0">
              <a:buNone/>
            </a:pPr>
            <a:r>
              <a:rPr lang="en-US" sz="950" dirty="0">
                <a:solidFill>
                  <a:srgbClr val="0F1A2B"/>
                </a:solidFill>
                <a:latin typeface="Calibri" pitchFamily="34" charset="0"/>
                <a:ea typeface="Calibri" pitchFamily="34" charset="-122"/>
                <a:cs typeface="Calibri" pitchFamily="34" charset="-120"/>
              </a:rPr>
              <a:t>drain-fast · </a:t>
            </a:r>
            <a:pPr indent="0" marL="0">
              <a:buNone/>
            </a:pPr>
            <a:r>
              <a:rPr lang="en-US" sz="950" b="1" dirty="0">
                <a:solidFill>
                  <a:srgbClr val="065A82"/>
                </a:solidFill>
                <a:latin typeface="Calibri" pitchFamily="34" charset="0"/>
                <a:ea typeface="Calibri" pitchFamily="34" charset="-122"/>
                <a:cs typeface="Calibri" pitchFamily="34" charset="-120"/>
              </a:rPr>
              <a:t>10.25 s </a:t>
            </a:r>
            <a:pPr indent="0" marL="0">
              <a:buNone/>
            </a:pPr>
            <a:r>
              <a:rPr lang="en-US" sz="950" dirty="0">
                <a:solidFill>
                  <a:srgbClr val="0F1A2B"/>
                </a:solidFill>
                <a:latin typeface="Calibri" pitchFamily="34" charset="0"/>
                <a:ea typeface="Calibri" pitchFamily="34" charset="-122"/>
                <a:cs typeface="Calibri" pitchFamily="34" charset="-120"/>
              </a:rPr>
              <a:t>drain-slow</a:t>
            </a:r>
            <a:pPr indent="0" marL="0">
              <a:buNone/>
            </a:pPr>
            <a:endParaRPr lang="en-US" sz="950" dirty="0"/>
          </a:p>
          <a:p>
            <a:pPr indent="0" marL="0">
              <a:buNone/>
            </a:pPr>
            <a:r>
              <a:rPr lang="en-US" sz="950" b="1" dirty="0">
                <a:solidFill>
                  <a:srgbClr val="065A82"/>
                </a:solidFill>
                <a:latin typeface="Calibri" pitchFamily="34" charset="0"/>
                <a:ea typeface="Calibri" pitchFamily="34" charset="-122"/>
                <a:cs typeface="Calibri" pitchFamily="34" charset="-120"/>
              </a:rPr>
              <a:t>614k </a:t>
            </a:r>
            <a:endParaRPr lang="en-US" sz="950" dirty="0"/>
          </a:p>
          <a:p>
            <a:pPr indent="0" marL="0">
              <a:buNone/>
            </a:pPr>
            <a:r>
              <a:rPr lang="en-US" sz="950" dirty="0">
                <a:solidFill>
                  <a:srgbClr val="0F1A2B"/>
                </a:solidFill>
                <a:latin typeface="Calibri" pitchFamily="34" charset="0"/>
                <a:ea typeface="Calibri" pitchFamily="34" charset="-122"/>
                <a:cs typeface="Calibri" pitchFamily="34" charset="-120"/>
              </a:rPr>
              <a:t>rows/s · </a:t>
            </a:r>
            <a:pPr indent="0" marL="0">
              <a:buNone/>
            </a:pPr>
            <a:r>
              <a:rPr lang="en-US" sz="950" b="1" dirty="0">
                <a:solidFill>
                  <a:srgbClr val="065A82"/>
                </a:solidFill>
                <a:latin typeface="Calibri" pitchFamily="34" charset="0"/>
                <a:ea typeface="Calibri" pitchFamily="34" charset="-122"/>
                <a:cs typeface="Calibri" pitchFamily="34" charset="-120"/>
              </a:rPr>
              <a:t>4.6× </a:t>
            </a:r>
            <a:pPr indent="0" marL="0">
              <a:buNone/>
            </a:pPr>
            <a:r>
              <a:rPr lang="en-US" sz="950" dirty="0">
                <a:solidFill>
                  <a:srgbClr val="0F1A2B"/>
                </a:solidFill>
                <a:latin typeface="Calibri" pitchFamily="34" charset="0"/>
                <a:ea typeface="Calibri" pitchFamily="34" charset="-122"/>
                <a:cs typeface="Calibri" pitchFamily="34" charset="-120"/>
              </a:rPr>
              <a:t>adaptive chunk</a:t>
            </a:r>
            <a:pPr indent="0" marL="0">
              <a:buNone/>
            </a:pPr>
            <a:endParaRPr lang="en-US" sz="950" dirty="0"/>
          </a:p>
          <a:p>
            <a:pPr indent="0" marL="0">
              <a:buNone/>
            </a:pPr>
            <a:r>
              <a:rPr lang="en-US" sz="950" dirty="0">
                <a:solidFill>
                  <a:srgbClr val="5E6B7E"/>
                </a:solidFill>
                <a:latin typeface="Calibri" pitchFamily="34" charset="0"/>
                <a:ea typeface="Calibri" pitchFamily="34" charset="-122"/>
                <a:cs typeface="Calibri" pitchFamily="34" charset="-120"/>
              </a:rPr>
              <a:t>multi-field 973 rows in 1.9 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2026-04-08T08:46:01Z</dcterms:created>
  <dcterms:modified xsi:type="dcterms:W3CDTF">2026-04-08T08:46:01Z</dcterms:modified>
</cp:coreProperties>
</file>